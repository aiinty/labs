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me" initials="H" lastIdx="1" clrIdx="0">
    <p:extLst>
      <p:ext uri="{19B8F6BF-5375-455C-9EA6-DF929625EA0E}">
        <p15:presenceInfo xmlns:p15="http://schemas.microsoft.com/office/powerpoint/2012/main" userId="Ho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5323" autoAdjust="0"/>
  </p:normalViewPr>
  <p:slideViewPr>
    <p:cSldViewPr snapToGrid="0">
      <p:cViewPr varScale="1">
        <p:scale>
          <a:sx n="82" d="100"/>
          <a:sy n="82" d="100"/>
        </p:scale>
        <p:origin x="15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D6754-62FB-42FD-9032-67F05BF4874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A044C-29C8-4BF8-9A2C-716C83DB34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82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начинаем тему списков.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906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самом деле вы с ними уже постоянно сталкиваетесь: сообщения в мессенджерах, товары в магазине, лента новостей, расписание.</a:t>
            </a:r>
          </a:p>
          <a:p>
            <a:r>
              <a:rPr lang="ru-RU" dirty="0"/>
              <a:t>Внешне они могут сильно отличаться, но внутри у них одна общая задача: есть набор данных, который нужно показать пользователю в виде прокручиваемого списка.</a:t>
            </a:r>
          </a:p>
          <a:p>
            <a:r>
              <a:rPr lang="ru-RU" dirty="0"/>
              <a:t>Сегодня разберём, как </a:t>
            </a:r>
            <a:r>
              <a:rPr lang="ru-RU" dirty="0" err="1"/>
              <a:t>Android</a:t>
            </a:r>
            <a:r>
              <a:rPr lang="ru-RU" dirty="0"/>
              <a:t> связывает эти данные с интерфейсом.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574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Допустим, у нас есть расписание пар.</a:t>
            </a:r>
          </a:p>
          <a:p>
            <a:r>
              <a:rPr lang="ru-RU" dirty="0"/>
              <a:t>Где-то у нас хранятся название, кабинет и например информация о преподавателе.</a:t>
            </a:r>
          </a:p>
          <a:p>
            <a:r>
              <a:rPr lang="ru-RU" dirty="0"/>
              <a:t>Но сами эти данные не являются </a:t>
            </a:r>
            <a:r>
              <a:rPr lang="ru-RU" b="1" dirty="0"/>
              <a:t>интерфейсом</a:t>
            </a:r>
            <a:r>
              <a:rPr lang="ru-RU" dirty="0"/>
              <a:t>. Строка </a:t>
            </a:r>
            <a:r>
              <a:rPr lang="en-US" dirty="0"/>
              <a:t>“</a:t>
            </a:r>
            <a:r>
              <a:rPr lang="ru-RU" dirty="0" err="1"/>
              <a:t>МобПри</a:t>
            </a:r>
            <a:r>
              <a:rPr lang="en-US" dirty="0"/>
              <a:t>”</a:t>
            </a:r>
            <a:r>
              <a:rPr lang="ru-RU" dirty="0"/>
              <a:t> сама по себе не знает, где и как ей появиться на экране.</a:t>
            </a:r>
          </a:p>
          <a:p>
            <a:r>
              <a:rPr lang="ru-RU" dirty="0"/>
              <a:t>Нам </a:t>
            </a:r>
            <a:r>
              <a:rPr lang="ru-RU" b="1" dirty="0"/>
              <a:t>нужен механизм, который возьмёт данные и превратит их в элементы интерфейса.</a:t>
            </a:r>
          </a:p>
          <a:p>
            <a:r>
              <a:rPr lang="ru-RU" dirty="0"/>
              <a:t>И этим механизмом будет </a:t>
            </a:r>
            <a:r>
              <a:rPr lang="ru-RU" b="1" u="sng" dirty="0"/>
              <a:t>адаптер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65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главная схема сегодняшней работы, её стоит запомнить.</a:t>
            </a:r>
          </a:p>
          <a:p>
            <a:r>
              <a:rPr lang="ru-RU" dirty="0"/>
              <a:t>С одной стороны находятся наши данные.</a:t>
            </a:r>
          </a:p>
          <a:p>
            <a:r>
              <a:rPr lang="ru-RU" dirty="0"/>
              <a:t>С другой - </a:t>
            </a:r>
            <a:r>
              <a:rPr lang="ru-RU" dirty="0" err="1"/>
              <a:t>ListView</a:t>
            </a:r>
            <a:r>
              <a:rPr lang="ru-RU" dirty="0"/>
              <a:t>, который умеет показывать View.</a:t>
            </a:r>
          </a:p>
          <a:p>
            <a:r>
              <a:rPr lang="ru-RU" dirty="0"/>
              <a:t>Адаптер находится между ними и переводит одно в другое.</a:t>
            </a:r>
          </a:p>
          <a:p>
            <a:r>
              <a:rPr lang="ru-RU" dirty="0" err="1"/>
              <a:t>ListView</a:t>
            </a:r>
            <a:r>
              <a:rPr lang="ru-RU" dirty="0"/>
              <a:t> не обязан знать, что такое наш класс Пара, какой там кабинет или преподаватель. Этим занимается адаптер.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319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сути, </a:t>
            </a:r>
            <a:r>
              <a:rPr lang="ru-RU" dirty="0" err="1"/>
              <a:t>ListView</a:t>
            </a:r>
            <a:r>
              <a:rPr lang="ru-RU" dirty="0"/>
              <a:t> постоянно задаёт адаптеру три вопроса.</a:t>
            </a:r>
          </a:p>
          <a:p>
            <a:r>
              <a:rPr lang="ru-RU" dirty="0"/>
              <a:t>Первый: сколько всего элементов?</a:t>
            </a:r>
          </a:p>
          <a:p>
            <a:r>
              <a:rPr lang="ru-RU" dirty="0"/>
              <a:t>Второй: что находится на конкретной позиции?</a:t>
            </a:r>
          </a:p>
          <a:p>
            <a:r>
              <a:rPr lang="ru-RU" dirty="0"/>
              <a:t>Третий: самое главное - каким View это показать?</a:t>
            </a:r>
          </a:p>
          <a:p>
            <a:r>
              <a:rPr lang="ru-RU" dirty="0"/>
              <a:t>За это отвечают </a:t>
            </a:r>
            <a:r>
              <a:rPr lang="ru-RU" dirty="0" err="1"/>
              <a:t>getCount</a:t>
            </a:r>
            <a:r>
              <a:rPr lang="ru-RU" dirty="0"/>
              <a:t>, </a:t>
            </a:r>
            <a:r>
              <a:rPr lang="ru-RU" dirty="0" err="1"/>
              <a:t>getItem</a:t>
            </a:r>
            <a:r>
              <a:rPr lang="ru-RU" dirty="0"/>
              <a:t> и </a:t>
            </a:r>
            <a:r>
              <a:rPr lang="ru-RU" dirty="0" err="1"/>
              <a:t>getView</a:t>
            </a:r>
            <a:r>
              <a:rPr lang="ru-RU" dirty="0"/>
              <a:t>.</a:t>
            </a:r>
          </a:p>
          <a:p>
            <a:r>
              <a:rPr lang="ru-RU" dirty="0"/>
              <a:t>И обратите внимание: </a:t>
            </a:r>
            <a:r>
              <a:rPr lang="ru-RU" b="1" dirty="0" err="1"/>
              <a:t>getView</a:t>
            </a:r>
            <a:r>
              <a:rPr lang="ru-RU" b="1" dirty="0"/>
              <a:t> вызываете не вы</a:t>
            </a:r>
            <a:r>
              <a:rPr lang="ru-RU" dirty="0"/>
              <a:t>. Его вызывает сам список, когда ему нужна строка.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20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появляется ещё один важный принцип.</a:t>
            </a:r>
          </a:p>
          <a:p>
            <a:r>
              <a:rPr lang="ru-RU" dirty="0"/>
              <a:t>Данные и интерфейс лучше не смешивать.</a:t>
            </a:r>
          </a:p>
          <a:p>
            <a:r>
              <a:rPr lang="ru-RU" dirty="0"/>
              <a:t>Пара хранит информацию о товаре.</a:t>
            </a:r>
          </a:p>
          <a:p>
            <a:r>
              <a:rPr lang="ru-RU" dirty="0"/>
              <a:t>XML описывает, как эта пара выглядит в списке.</a:t>
            </a:r>
          </a:p>
          <a:p>
            <a:r>
              <a:rPr lang="ru-RU" dirty="0"/>
              <a:t>А адаптер связывает их.</a:t>
            </a:r>
          </a:p>
          <a:p>
            <a:r>
              <a:rPr lang="ru-RU" dirty="0"/>
              <a:t>Сейчас у нас всего несколько пар, поэтому можно было бы написать всё прямо в </a:t>
            </a:r>
            <a:r>
              <a:rPr lang="ru-RU" b="1" dirty="0" err="1"/>
              <a:t>Activity</a:t>
            </a:r>
            <a:r>
              <a:rPr lang="ru-RU" dirty="0"/>
              <a:t>. Но когда данные начнут приходить из базы или через API, такое разделение сильно упростит работу.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48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последний вопрос, который пока просто оставим в голове.</a:t>
            </a:r>
          </a:p>
          <a:p>
            <a:r>
              <a:rPr lang="ru-RU" dirty="0"/>
              <a:t>Представьте, что у нас не 4 пары, а тысяча.</a:t>
            </a:r>
          </a:p>
          <a:p>
            <a:r>
              <a:rPr lang="ru-RU" dirty="0"/>
              <a:t>Нужно ли создавать тысячу объектов View, если одновременно пользователь видит только несколько?</a:t>
            </a:r>
          </a:p>
          <a:p>
            <a:r>
              <a:rPr lang="ru-RU" dirty="0"/>
              <a:t>Конечно, хотелось бы этого избежать.</a:t>
            </a:r>
          </a:p>
          <a:p>
            <a:r>
              <a:rPr lang="ru-RU" dirty="0"/>
              <a:t>Поэтому списки умеют </a:t>
            </a:r>
            <a:r>
              <a:rPr lang="ru-RU" dirty="0" err="1"/>
              <a:t>переиспользовать</a:t>
            </a:r>
            <a:r>
              <a:rPr lang="ru-RU" dirty="0"/>
              <a:t> уже созданные строки.</a:t>
            </a:r>
          </a:p>
          <a:p>
            <a:r>
              <a:rPr lang="ru-RU" dirty="0"/>
              <a:t>У </a:t>
            </a:r>
            <a:r>
              <a:rPr lang="ru-RU" dirty="0" err="1"/>
              <a:t>ListView</a:t>
            </a:r>
            <a:r>
              <a:rPr lang="ru-RU" dirty="0"/>
              <a:t> для этого есть </a:t>
            </a:r>
            <a:r>
              <a:rPr lang="ru-RU" dirty="0" err="1"/>
              <a:t>convertView</a:t>
            </a:r>
            <a:r>
              <a:rPr lang="ru-RU" dirty="0"/>
              <a:t>.</a:t>
            </a:r>
          </a:p>
          <a:p>
            <a:r>
              <a:rPr lang="ru-RU" dirty="0"/>
              <a:t>А в следующей лабораторной мы перейдём к </a:t>
            </a:r>
            <a:r>
              <a:rPr lang="ru-RU" b="1" dirty="0" err="1"/>
              <a:t>RecyclerView</a:t>
            </a:r>
            <a:r>
              <a:rPr lang="ru-RU" dirty="0"/>
              <a:t> и разберём эту механику уже нормально.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A044C-29C8-4BF8-9A2C-716C83DB344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49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BC65F-0429-452D-9C06-4D787C812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107136-0F70-43B0-8CD5-14129502B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6BCC4E-F44D-480B-B0E8-FBA0A59C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2E0A71-A74D-4A53-9714-02EA4038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C2664-A5A8-4D31-887E-C17BC9BE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4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3F13B-5E94-4DDD-8A84-B306B5E5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6BFE2E-2A4E-4565-970D-7AA07E891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D52205-09F0-48E3-8633-69F28A73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F9FAAC-ED89-472F-AA61-2ACEF7A4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31FBE-D64A-4B74-AD4F-052A2173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0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832AE-9C57-4B2F-ABE3-229E9FBE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8F4E66-45EA-4EB5-9BB5-F1A8D185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8DEF13-B0BA-448B-BDB1-94475809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79C985-9C01-43D8-8DBA-B1B6AEB4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CCAD5-EC11-4A60-B911-DAEBB992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37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F79AB-DD70-4587-8DA6-606D7E60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19733D-1C99-4A0D-8E64-6BB136B53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49F6BF-DC11-4809-9E35-F04425556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48C6C0-D02E-448D-BF5A-54E3C76BE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7B8344-741E-4AFE-973C-41F3417C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955BF5-46DA-499E-896A-F7D68119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69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1AE33-0365-4C4F-BA85-23901391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CEB76E-7BDC-496E-8B71-A43831F3C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CCB2C8-76C0-4E1F-B33C-83C436A8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4AFFB9-F0CD-44DD-A39A-08A4F31A7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155926-12D8-4C9C-87FF-68872B7D4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6B8F3B-B62B-4DEA-B134-84E6B9C4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1CB5C5-C4FE-4D75-B150-61C0D69A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4D3C8E-808B-4F00-B97C-D3A0E67A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295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0C363-3D13-4BAE-B181-299FCBA4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8B1E1C-D942-4A09-A7CC-0ACBDDE9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1FD534-3ED9-4A56-8F54-ED10CAF3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DF754D-6989-497F-AFF0-D0B5E36B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07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558E66B-B9C8-4903-AC6D-BE31BD4B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7636EA-F3BC-43FA-BD26-9E95803D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08577D-61EC-4CCE-A4E4-DCB381C2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78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63BD1-2C48-48C7-9C56-C243FA44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EFC998-25E2-45D1-8EC7-9A74460DE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BDF918-7567-4A4A-B368-19A9D5683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FD9362-FA5B-4CA3-B883-D8E1F8D0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6D7A39-050D-4CF2-B7EA-6A9CF2C9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4241C0-301B-499E-95D3-DCC4BFF8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35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90AF-16C7-484F-95CE-31106E1B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BAF73E-4DA6-4106-9A66-787353874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5A6E53-6FF7-4B95-B2F0-6F46CFA83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0D49A9-B725-4104-AFCC-9EA0BE87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39EF9B-1A01-4799-BEAD-C81A05DC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BF3E2D-BC24-4BFB-9EAF-DD621659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59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63543-47E6-4C53-AC9F-E4468844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7EA2E8-90BA-478C-A569-DD6862242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2BC67D-F2F8-40D2-8A1C-C60EDD0E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7D2BAE-57C4-411F-AAB3-D7E820F9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62D9B2-27BA-4BFF-BE74-CD26D9A9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1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AAA57A-2414-4A0E-AC36-1544E6893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8886F5-EB53-470C-AD9A-D6E79210B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D7DA02-40C1-46B6-8371-BD252BC7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B8376-EEDC-4A92-9318-2C32FCC6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5980E-D973-44FB-B8CE-B3887C78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2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AC185-8C5D-4582-8B19-39FE78C0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3E7D43-F8CD-4F86-9044-F6FC7394B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5FD9C1-80F3-4C1D-9E9B-B3551C0DA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10386-1055-402C-A37F-78C051232BA7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08E729-612E-4460-AF52-B11FD6125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7DE54-0857-4618-A2BC-9376E3C05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B286-A232-4F87-8C65-0A34AD440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04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E1F75-CD46-47D9-B97D-181566BE7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Адаптеры и </a:t>
            </a:r>
            <a:br>
              <a:rPr lang="ru-RU" dirty="0"/>
            </a:br>
            <a:r>
              <a:rPr lang="ru-RU" dirty="0"/>
              <a:t>их назначение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261517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26FC6-AAF6-4610-9040-2B18A318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Списки везде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2AAB42B-9865-4A2E-BF3E-29A41E6C3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959" y="1704852"/>
            <a:ext cx="2447627" cy="4351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39296E-7BCB-4973-A34F-319FDFF499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47"/>
          <a:stretch/>
        </p:blipFill>
        <p:spPr>
          <a:xfrm>
            <a:off x="3036863" y="1382166"/>
            <a:ext cx="2271839" cy="5033108"/>
          </a:xfrm>
          <a:prstGeom prst="rect">
            <a:avLst/>
          </a:prstGeom>
        </p:spPr>
      </p:pic>
      <p:pic>
        <p:nvPicPr>
          <p:cNvPr id="1030" name="Picture 6" descr="Как пользоваться Spotify: что дает платная подписка">
            <a:extLst>
              <a:ext uri="{FF2B5EF4-FFF2-40B4-BE49-F238E27FC236}">
                <a16:creationId xmlns:a16="http://schemas.microsoft.com/office/drawing/2014/main" id="{B806A1C7-59B3-46B3-912F-E7E54342F3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 bwMode="auto">
          <a:xfrm>
            <a:off x="9226521" y="1027906"/>
            <a:ext cx="2621060" cy="536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7F84BB-3EA5-4660-81FF-6114C4816D75}"/>
              </a:ext>
            </a:extLst>
          </p:cNvPr>
          <p:cNvSpPr txBox="1"/>
          <p:nvPr/>
        </p:nvSpPr>
        <p:spPr>
          <a:xfrm>
            <a:off x="1271524" y="626052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Чаты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3A745-E792-43EA-B328-A21F4315DC2C}"/>
              </a:ext>
            </a:extLst>
          </p:cNvPr>
          <p:cNvSpPr txBox="1"/>
          <p:nvPr/>
        </p:nvSpPr>
        <p:spPr>
          <a:xfrm>
            <a:off x="3348678" y="6442698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Расписание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97CA0-6516-48EE-86D3-2A989749C493}"/>
              </a:ext>
            </a:extLst>
          </p:cNvPr>
          <p:cNvSpPr txBox="1"/>
          <p:nvPr/>
        </p:nvSpPr>
        <p:spPr>
          <a:xfrm>
            <a:off x="9961249" y="6445195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Музыка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A8FF848-0927-4BC1-A131-47D45563AD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181"/>
          <a:stretch/>
        </p:blipFill>
        <p:spPr>
          <a:xfrm>
            <a:off x="5391471" y="1363967"/>
            <a:ext cx="3721369" cy="50331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008A81-AFA6-4456-AE7C-57A860585FC5}"/>
              </a:ext>
            </a:extLst>
          </p:cNvPr>
          <p:cNvSpPr txBox="1"/>
          <p:nvPr/>
        </p:nvSpPr>
        <p:spPr>
          <a:xfrm>
            <a:off x="6883300" y="641262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Лента</a:t>
            </a:r>
          </a:p>
        </p:txBody>
      </p:sp>
    </p:spTree>
    <p:extLst>
      <p:ext uri="{BB962C8B-B14F-4D97-AF65-F5344CB8AC3E}">
        <p14:creationId xmlns:p14="http://schemas.microsoft.com/office/powerpoint/2010/main" val="4639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35071-7BA8-4C70-973A-2ABF49CC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Откуда берутся строчки списка?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A66713-ECD7-44BD-B58F-4D846783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5" y="1690688"/>
            <a:ext cx="10888595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25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E1063-989A-4D0C-99BF-B43001CB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адаптер?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E6D1F-CD15-45EB-937C-7D06C4666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3631"/>
            <a:ext cx="10515600" cy="57333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Адаптер</a:t>
            </a:r>
            <a:r>
              <a:rPr lang="ru-RU" dirty="0"/>
              <a:t> это посредник между данными и списком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7275F1-959A-46AE-A431-61BE088B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3" y="1628571"/>
            <a:ext cx="11785393" cy="360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8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6F53E-FED6-45D2-9D27-9E218A8A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спрашивает </a:t>
            </a:r>
            <a:r>
              <a:rPr lang="en-GB" dirty="0" err="1"/>
              <a:t>ListView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D3FCC21-243B-444D-A06A-816B05072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648550"/>
              </p:ext>
            </p:extLst>
          </p:nvPr>
        </p:nvGraphicFramePr>
        <p:xfrm>
          <a:off x="838200" y="2270760"/>
          <a:ext cx="10204524" cy="23164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5281246">
                  <a:extLst>
                    <a:ext uri="{9D8B030D-6E8A-4147-A177-3AD203B41FA5}">
                      <a16:colId xmlns:a16="http://schemas.microsoft.com/office/drawing/2014/main" val="2104003105"/>
                    </a:ext>
                  </a:extLst>
                </a:gridCol>
                <a:gridCol w="4923278">
                  <a:extLst>
                    <a:ext uri="{9D8B030D-6E8A-4147-A177-3AD203B41FA5}">
                      <a16:colId xmlns:a16="http://schemas.microsoft.com/office/drawing/2014/main" val="2505182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 err="1"/>
                        <a:t>ListView</a:t>
                      </a:r>
                      <a:endParaRPr lang="en-GB" sz="3200" b="1" dirty="0"/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Адаптер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02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3200" dirty="0"/>
                        <a:t>Сколько элементов?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0" u="sng" dirty="0" err="1"/>
                        <a:t>getCount</a:t>
                      </a:r>
                      <a:r>
                        <a:rPr lang="en-GB" sz="3200" b="0" u="sng" dirty="0"/>
                        <a:t>()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776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3200" dirty="0"/>
                        <a:t>Что на позиции </a:t>
                      </a:r>
                      <a:r>
                        <a:rPr lang="en-GB" sz="3200" dirty="0"/>
                        <a:t>N?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0" u="sng" dirty="0" err="1"/>
                        <a:t>getItem</a:t>
                      </a:r>
                      <a:r>
                        <a:rPr lang="en-GB" sz="3200" b="0" u="sng" dirty="0"/>
                        <a:t>()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879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3200"/>
                        <a:t>Как это показать?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0" u="sng" dirty="0" err="1"/>
                        <a:t>getView</a:t>
                      </a:r>
                      <a:r>
                        <a:rPr lang="en-GB" sz="3200" b="0" u="sng" dirty="0"/>
                        <a:t>()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437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48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AA346-ADFD-4F58-9556-68102BB0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данные и </a:t>
            </a:r>
            <a:r>
              <a:rPr lang="ru-RU" dirty="0" err="1"/>
              <a:t>интерефейс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8176CC0-CEF8-44BB-B71E-5F95484CD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518" t="12793" r="3957" b="12674"/>
          <a:stretch/>
        </p:blipFill>
        <p:spPr>
          <a:xfrm>
            <a:off x="151823" y="2011362"/>
            <a:ext cx="11888353" cy="3294186"/>
          </a:xfrm>
        </p:spPr>
      </p:pic>
    </p:spTree>
    <p:extLst>
      <p:ext uri="{BB962C8B-B14F-4D97-AF65-F5344CB8AC3E}">
        <p14:creationId xmlns:p14="http://schemas.microsoft.com/office/powerpoint/2010/main" val="137809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4DD86-04D5-4E69-8B87-3F738199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элементов очень много?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C94D3-5553-4E2A-BC19-7CAAB863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Сегодня у нас </a:t>
            </a:r>
            <a:r>
              <a:rPr lang="ru-RU" b="1" dirty="0"/>
              <a:t>9999 пар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 экране видно </a:t>
            </a:r>
            <a:r>
              <a:rPr lang="ru-RU" b="1" dirty="0"/>
              <a:t>примерно 10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Создавать </a:t>
            </a:r>
            <a:r>
              <a:rPr lang="ru-RU" b="1" dirty="0"/>
              <a:t>1000 View?</a:t>
            </a:r>
          </a:p>
        </p:txBody>
      </p:sp>
    </p:spTree>
    <p:extLst>
      <p:ext uri="{BB962C8B-B14F-4D97-AF65-F5344CB8AC3E}">
        <p14:creationId xmlns:p14="http://schemas.microsoft.com/office/powerpoint/2010/main" val="37390905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477</Words>
  <Application>Microsoft Office PowerPoint</Application>
  <PresentationFormat>Широкоэкранный</PresentationFormat>
  <Paragraphs>65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Montserrat</vt:lpstr>
      <vt:lpstr>Montserrat Bold</vt:lpstr>
      <vt:lpstr>Тема Office</vt:lpstr>
      <vt:lpstr>Адаптеры и  их назначение</vt:lpstr>
      <vt:lpstr>Списки везде</vt:lpstr>
      <vt:lpstr>Откуда берутся строчки списка?</vt:lpstr>
      <vt:lpstr>Что такое адаптер?</vt:lpstr>
      <vt:lpstr>Что спрашивает ListView</vt:lpstr>
      <vt:lpstr>Где данные и интерефейс</vt:lpstr>
      <vt:lpstr>А если элементов очень много?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Home</cp:lastModifiedBy>
  <cp:revision>7</cp:revision>
  <dcterms:created xsi:type="dcterms:W3CDTF">2026-09-25T16:32:48Z</dcterms:created>
  <dcterms:modified xsi:type="dcterms:W3CDTF">2026-09-25T17:27:55Z</dcterms:modified>
</cp:coreProperties>
</file>